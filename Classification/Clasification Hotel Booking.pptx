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58" r:id="rId4"/>
    <p:sldId id="266" r:id="rId5"/>
    <p:sldId id="259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5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CFF7-6A30-BC00-7FF3-FAEA7915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26078-F968-FFF2-1041-A7454DD9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B6F03-258D-A46E-AF52-DB42CA70C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DD344-1169-390C-9FF0-67C760B69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45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80C9-1134-91C6-DCC0-0C941A33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F7EBF-2DF3-C12B-D9AF-A720DE81D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C9101-CF47-85DD-C839-1FEBB9E72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C8ACC-5CF3-0EB1-77F6-5CD69CE93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08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A638-4452-9A32-856A-282AB84C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84A21-9982-B60E-B630-78B8B78B9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96063-72D4-05F7-4865-9D9E7420E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C140-2339-5D80-184E-B3E8030EF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80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7024-11F8-4CCA-8A84-7FC352F9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C160D-B9BF-EDC3-EEAE-3988E67C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5DACE-559C-2A5D-9154-61FB468B4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66C67-3000-3A00-6E2B-37E41D79A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10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180B-52D9-6F45-AF4D-06C40853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CEB74-7398-3CAA-B427-7CFF4971A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7F41F-2CFB-99AB-3615-4F4053272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6121-F322-10D8-E06B-2DB53CCF5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CAA8-5342-29D2-C792-D4EA139A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A5556-D77E-A255-BB71-90F946BB6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BC202-3D07-609D-E873-1D94F9602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A6B8-1F31-8C3B-E042-132093CF7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01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D53C-DE90-B82F-8CA1-C48B0AEA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1AC84-42A8-7EF0-137C-F57FBA769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E3458-D26F-4A07-8CB0-F6C399022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6B99-DDC7-361C-0B43-4EB8F6DB5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26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931E-67A6-361C-3CDB-54551A1D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EA4B-15CE-9DBC-F0EE-263E55585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CA9AC-C7D0-3440-8232-04F5421D5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600F8-18EF-C3AA-C3BE-0FED2BE79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70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DDE9-2EF8-A2CD-1510-68E78A3A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C5707-80D2-E534-83DA-96E642278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7F3AC-9CD2-8BEF-4070-8E362E5E2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D2BC-C17D-2A66-9CC8-5FF0105BC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2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020F-D2AE-1766-78DE-AB01D966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E1271-4BC5-1890-2565-1A5FB5E0E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275F0-D122-CE96-307F-22F22431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EEEF9-0DE3-62DE-F210-E2946D2CB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58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DB4E-4137-98A6-5DEB-4225738D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A68FA-37C7-8145-ACDF-CA3EABA73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70150-A2F5-CFBF-0EFA-32490ECA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18E1A-D7EE-8DE5-DD2A-BABB12265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4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15401-A8EE-D55D-E519-C0B2667F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E6DEE-9B7C-4CB0-D90F-FDC6EC50B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3BC16-D2D3-5A8C-9A28-12AD85ED9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4A086-FA4B-79AD-975C-012AAAF82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4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31E0-250F-EAF3-6CB7-45E4D6A4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7A40C-6BC0-7444-7367-342E9A262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427DC-64F3-674A-F339-04455823E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98E3-D10A-D12C-E472-197203927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33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0959-1FFC-E801-F6E0-A352C643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E571D-8A6D-4330-8CA8-CB66C3543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D30A4-087B-84A0-C674-FC3C64D09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2865-3E9D-9D14-C052-F4DF555D8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1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Classification Model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394960" y="3794760"/>
            <a:ext cx="13716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BD161-877F-BB68-E1FC-1E6C5CDB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FA1750-EDB8-99DA-7B00-BDCD81845288}"/>
              </a:ext>
            </a:extLst>
          </p:cNvPr>
          <p:cNvSpPr/>
          <p:nvPr/>
        </p:nvSpPr>
        <p:spPr>
          <a:xfrm>
            <a:off x="655320" y="91855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Project Overview</a:t>
            </a:r>
            <a:endParaRPr lang="en-US" sz="4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B8D58B8-CEED-ECF6-7F64-89078E3779E4}"/>
              </a:ext>
            </a:extLst>
          </p:cNvPr>
          <p:cNvSpPr/>
          <p:nvPr/>
        </p:nvSpPr>
        <p:spPr>
          <a:xfrm>
            <a:off x="655320" y="2491047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project uses machine learning classification algorithms to predict whether a hotel booking will be canceled. The goal is to identify booking patterns associated with cancellations and evaluate how well different classification models can distinguish between canceled and non-canceled reservations.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87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2060"/>
                </a:solidFill>
              </a:rPr>
              <a:t>Raw Data Set</a:t>
            </a:r>
          </a:p>
        </p:txBody>
      </p:sp>
      <p:sp>
        <p:nvSpPr>
          <p:cNvPr id="12" name="Text 9"/>
          <p:cNvSpPr/>
          <p:nvPr/>
        </p:nvSpPr>
        <p:spPr>
          <a:xfrm>
            <a:off x="658368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27,841 rows × 9 columns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(categoricals, ordered categoricals for age &amp; experience) — zero remaining nulls.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DCD7C-1670-9F34-1262-D7309752FBE9}"/>
              </a:ext>
            </a:extLst>
          </p:cNvPr>
          <p:cNvSpPr txBox="1"/>
          <p:nvPr/>
        </p:nvSpPr>
        <p:spPr>
          <a:xfrm>
            <a:off x="548640" y="1519223"/>
            <a:ext cx="49421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Original dataset shape: (119390, 32</a:t>
            </a:r>
            <a:r>
              <a:rPr lang="en-PH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ED4AE-CAC6-88AF-0F10-D1BAB9F56F10}"/>
              </a:ext>
            </a:extLst>
          </p:cNvPr>
          <p:cNvSpPr txBox="1"/>
          <p:nvPr/>
        </p:nvSpPr>
        <p:spPr>
          <a:xfrm>
            <a:off x="457200" y="2873340"/>
            <a:ext cx="38654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/>
              <a:t>1.Hotel </a:t>
            </a:r>
          </a:p>
          <a:p>
            <a:r>
              <a:rPr lang="en-PH" sz="2000" dirty="0"/>
              <a:t>2.is_canceled </a:t>
            </a:r>
          </a:p>
          <a:p>
            <a:r>
              <a:rPr lang="en-PH" sz="2000" dirty="0"/>
              <a:t>3.lead_time </a:t>
            </a:r>
          </a:p>
          <a:p>
            <a:r>
              <a:rPr lang="en-PH" sz="2000" dirty="0"/>
              <a:t>4.arrival_date_year </a:t>
            </a:r>
          </a:p>
          <a:p>
            <a:r>
              <a:rPr lang="en-PH" sz="2000" dirty="0"/>
              <a:t>5.arrival_date_month</a:t>
            </a:r>
          </a:p>
          <a:p>
            <a:r>
              <a:rPr lang="en-PH" sz="2000" dirty="0"/>
              <a:t>6.arrival_date_week_number </a:t>
            </a:r>
          </a:p>
          <a:p>
            <a:r>
              <a:rPr lang="en-PH" sz="2000" dirty="0"/>
              <a:t>7.arrival_date_day_of_month </a:t>
            </a:r>
          </a:p>
          <a:p>
            <a:r>
              <a:rPr lang="en-PH" sz="2000" dirty="0"/>
              <a:t>8.stays_in_weekend_nights </a:t>
            </a:r>
          </a:p>
          <a:p>
            <a:r>
              <a:rPr lang="en-PH" sz="2000" dirty="0"/>
              <a:t>9.stays_in_week_nights</a:t>
            </a:r>
          </a:p>
          <a:p>
            <a:r>
              <a:rPr lang="en-PH" sz="2000" dirty="0"/>
              <a:t>10.Adults</a:t>
            </a:r>
          </a:p>
          <a:p>
            <a:r>
              <a:rPr lang="en-PH" sz="2000" dirty="0"/>
              <a:t>11.Children </a:t>
            </a:r>
          </a:p>
          <a:p>
            <a:r>
              <a:rPr lang="en-PH" sz="2000" dirty="0"/>
              <a:t>12.Babies </a:t>
            </a:r>
          </a:p>
          <a:p>
            <a:r>
              <a:rPr lang="en-PH" sz="2000" dirty="0"/>
              <a:t>13.meal</a:t>
            </a:r>
          </a:p>
          <a:p>
            <a:r>
              <a:rPr lang="en-PH" sz="2000" dirty="0"/>
              <a:t>,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13CA9-CE6F-1CB6-043D-5BF6FF11DB28}"/>
              </a:ext>
            </a:extLst>
          </p:cNvPr>
          <p:cNvSpPr txBox="1"/>
          <p:nvPr/>
        </p:nvSpPr>
        <p:spPr>
          <a:xfrm>
            <a:off x="548640" y="2420099"/>
            <a:ext cx="20421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Column List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CB533-D297-CDB0-69E1-85C8FB29D00A}"/>
              </a:ext>
            </a:extLst>
          </p:cNvPr>
          <p:cNvSpPr txBox="1"/>
          <p:nvPr/>
        </p:nvSpPr>
        <p:spPr>
          <a:xfrm>
            <a:off x="3919516" y="2789431"/>
            <a:ext cx="400263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000" dirty="0"/>
              <a:t>14.Country </a:t>
            </a:r>
          </a:p>
          <a:p>
            <a:r>
              <a:rPr lang="en-PH" sz="2000" dirty="0"/>
              <a:t>15.market_segment </a:t>
            </a:r>
          </a:p>
          <a:p>
            <a:r>
              <a:rPr lang="en-PH" sz="2000" dirty="0"/>
              <a:t>16.distribution_channel </a:t>
            </a:r>
          </a:p>
          <a:p>
            <a:r>
              <a:rPr lang="en-PH" sz="2000" dirty="0"/>
              <a:t>17.is_repeated_guest </a:t>
            </a:r>
          </a:p>
          <a:p>
            <a:r>
              <a:rPr lang="en-PH" sz="2000" dirty="0"/>
              <a:t>18.previous_cancellations</a:t>
            </a:r>
          </a:p>
          <a:p>
            <a:r>
              <a:rPr lang="en-PH" sz="2000" dirty="0"/>
              <a:t>19.previous_bookings_not_canceled</a:t>
            </a:r>
          </a:p>
          <a:p>
            <a:r>
              <a:rPr lang="en-PH" sz="2000" dirty="0"/>
              <a:t>20.reserved_room_type </a:t>
            </a:r>
          </a:p>
          <a:p>
            <a:r>
              <a:rPr lang="en-PH" sz="2000" dirty="0"/>
              <a:t>21.</a:t>
            </a:r>
            <a:r>
              <a:rPr lang="en-PH" sz="2000" dirty="0">
                <a:highlight>
                  <a:srgbClr val="FFFF00"/>
                </a:highlight>
              </a:rPr>
              <a:t>assigned_room_type</a:t>
            </a:r>
          </a:p>
          <a:p>
            <a:r>
              <a:rPr lang="en-PH" sz="2000" dirty="0"/>
              <a:t>22.booking_changes </a:t>
            </a:r>
          </a:p>
          <a:p>
            <a:r>
              <a:rPr lang="en-PH" sz="2000" dirty="0"/>
              <a:t>23.deposit_type</a:t>
            </a:r>
          </a:p>
          <a:p>
            <a:r>
              <a:rPr lang="en-PH" sz="2000" dirty="0"/>
              <a:t>24.Agent </a:t>
            </a:r>
          </a:p>
          <a:p>
            <a:r>
              <a:rPr lang="en-PH" sz="2000" dirty="0"/>
              <a:t>25.company </a:t>
            </a:r>
          </a:p>
          <a:p>
            <a:r>
              <a:rPr lang="en-PH" sz="2000" dirty="0"/>
              <a:t>26.days_in_waiting_list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E28E6-B13C-64CC-7637-0E4119D3099B}"/>
              </a:ext>
            </a:extLst>
          </p:cNvPr>
          <p:cNvSpPr txBox="1"/>
          <p:nvPr/>
        </p:nvSpPr>
        <p:spPr>
          <a:xfrm>
            <a:off x="7863840" y="2774377"/>
            <a:ext cx="363984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000" dirty="0"/>
              <a:t>27.customer_type </a:t>
            </a:r>
          </a:p>
          <a:p>
            <a:r>
              <a:rPr lang="en-PH" sz="2000" dirty="0"/>
              <a:t>28.Adr </a:t>
            </a:r>
          </a:p>
          <a:p>
            <a:r>
              <a:rPr lang="en-PH" sz="2000" dirty="0"/>
              <a:t>29.required_car_parking_spaces </a:t>
            </a:r>
          </a:p>
          <a:p>
            <a:r>
              <a:rPr lang="en-PH" sz="2000" dirty="0"/>
              <a:t>30.total_of_special_requests</a:t>
            </a:r>
          </a:p>
          <a:p>
            <a:r>
              <a:rPr lang="en-PH" sz="2000" dirty="0"/>
              <a:t>31.</a:t>
            </a:r>
            <a:r>
              <a:rPr lang="en-PH" sz="2000" dirty="0">
                <a:highlight>
                  <a:srgbClr val="FFFF00"/>
                </a:highlight>
              </a:rPr>
              <a:t>reservation_status </a:t>
            </a:r>
          </a:p>
          <a:p>
            <a:r>
              <a:rPr lang="en-PH" sz="2000" dirty="0"/>
              <a:t>32.</a:t>
            </a:r>
            <a:r>
              <a:rPr lang="en-PH" sz="2000" dirty="0">
                <a:highlight>
                  <a:srgbClr val="FFFF00"/>
                </a:highlight>
              </a:rPr>
              <a:t>reservation_status_date']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D27E8-C1FD-C48F-678A-838BCA12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D8734F0-D0B0-91E7-E801-34B58B6A552D}"/>
              </a:ext>
            </a:extLst>
          </p:cNvPr>
          <p:cNvSpPr/>
          <p:nvPr/>
        </p:nvSpPr>
        <p:spPr>
          <a:xfrm>
            <a:off x="604058" y="1561406"/>
            <a:ext cx="10881360" cy="149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Ready Data Set into Machine Learning Data Set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85096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2525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Load Data Set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FAA75BE-5C85-49A0-348A-2AE6C1CC9592}"/>
              </a:ext>
            </a:extLst>
          </p:cNvPr>
          <p:cNvSpPr/>
          <p:nvPr/>
        </p:nvSpPr>
        <p:spPr>
          <a:xfrm>
            <a:off x="1298447" y="1101159"/>
            <a:ext cx="3148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Remove Duplicate</a:t>
            </a:r>
            <a:endParaRPr lang="en-US" sz="28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0B79095-2CDE-B8A9-4F4F-D10D8DADD00C}"/>
              </a:ext>
            </a:extLst>
          </p:cNvPr>
          <p:cNvSpPr/>
          <p:nvPr/>
        </p:nvSpPr>
        <p:spPr>
          <a:xfrm>
            <a:off x="548640" y="1957925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7BF14D8F-9E1A-2171-1717-2B85554678C8}"/>
              </a:ext>
            </a:extLst>
          </p:cNvPr>
          <p:cNvSpPr/>
          <p:nvPr/>
        </p:nvSpPr>
        <p:spPr>
          <a:xfrm>
            <a:off x="548640" y="268085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E0F1BBC-D994-15CB-1316-5487C1D5167A}"/>
              </a:ext>
            </a:extLst>
          </p:cNvPr>
          <p:cNvSpPr/>
          <p:nvPr/>
        </p:nvSpPr>
        <p:spPr>
          <a:xfrm>
            <a:off x="548640" y="399232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40201DC-A571-ACC8-5375-CE52126FFBD5}"/>
              </a:ext>
            </a:extLst>
          </p:cNvPr>
          <p:cNvSpPr/>
          <p:nvPr/>
        </p:nvSpPr>
        <p:spPr>
          <a:xfrm>
            <a:off x="528135" y="1204237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76A13068-A688-CCA3-AA15-1C9C7C277066}"/>
              </a:ext>
            </a:extLst>
          </p:cNvPr>
          <p:cNvSpPr/>
          <p:nvPr/>
        </p:nvSpPr>
        <p:spPr>
          <a:xfrm>
            <a:off x="1298447" y="1858172"/>
            <a:ext cx="5919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Remove target columns Leakage</a:t>
            </a:r>
            <a:endParaRPr lang="en-US" sz="28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2C55A29A-746A-65CC-7505-7E1BAA85F59B}"/>
              </a:ext>
            </a:extLst>
          </p:cNvPr>
          <p:cNvSpPr/>
          <p:nvPr/>
        </p:nvSpPr>
        <p:spPr>
          <a:xfrm>
            <a:off x="1298448" y="2512384"/>
            <a:ext cx="4312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Handle Missing Values</a:t>
            </a:r>
            <a:endParaRPr lang="en-US" sz="28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6D76F2E7-B64E-E0E8-BE84-0A69071D6BAA}"/>
              </a:ext>
            </a:extLst>
          </p:cNvPr>
          <p:cNvSpPr/>
          <p:nvPr/>
        </p:nvSpPr>
        <p:spPr>
          <a:xfrm>
            <a:off x="1331144" y="3866388"/>
            <a:ext cx="50142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Standard meal category</a:t>
            </a:r>
            <a:endParaRPr lang="en-US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DFBA45-03DC-6FAC-8A6D-419809FABA58}"/>
              </a:ext>
            </a:extLst>
          </p:cNvPr>
          <p:cNvSpPr txBox="1"/>
          <p:nvPr/>
        </p:nvSpPr>
        <p:spPr>
          <a:xfrm>
            <a:off x="1331145" y="3073908"/>
            <a:ext cx="20326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Children = 0</a:t>
            </a:r>
          </a:p>
          <a:p>
            <a:r>
              <a:rPr lang="en-PH" dirty="0"/>
              <a:t>Country = unknown</a:t>
            </a:r>
          </a:p>
          <a:p>
            <a:r>
              <a:rPr lang="en-PH" dirty="0"/>
              <a:t>Agent =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C3953-E352-0E0B-C724-B1722DD78D6E}"/>
              </a:ext>
            </a:extLst>
          </p:cNvPr>
          <p:cNvSpPr txBox="1"/>
          <p:nvPr/>
        </p:nvSpPr>
        <p:spPr>
          <a:xfrm>
            <a:off x="3842867" y="3081507"/>
            <a:ext cx="402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Company = drop, so many missing values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C73DE2-9DF2-FC86-F6D3-B3D011E8FCF9}"/>
              </a:ext>
            </a:extLst>
          </p:cNvPr>
          <p:cNvSpPr txBox="1"/>
          <p:nvPr/>
        </p:nvSpPr>
        <p:spPr>
          <a:xfrm>
            <a:off x="1298448" y="4456568"/>
            <a:ext cx="401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BB, FB, HB, SC, </a:t>
            </a:r>
            <a:r>
              <a:rPr lang="en-PH" dirty="0">
                <a:highlight>
                  <a:srgbClr val="FFFF00"/>
                </a:highlight>
              </a:rPr>
              <a:t>Undefined change into 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4DD84-A6E8-1481-B129-4CE987B2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03EC-0BEA-2295-6BEE-AECD83AE19D4}"/>
              </a:ext>
            </a:extLst>
          </p:cNvPr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44D5BC-B3FB-2125-320F-6EE51D1E48D0}"/>
              </a:ext>
            </a:extLst>
          </p:cNvPr>
          <p:cNvSpPr/>
          <p:nvPr/>
        </p:nvSpPr>
        <p:spPr>
          <a:xfrm>
            <a:off x="1298447" y="411480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Filter Extreme Records / Record that is impossible</a:t>
            </a:r>
            <a:endParaRPr lang="en-US" sz="2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85E87B-ADB2-8C68-16E3-53C4DF13351D}"/>
              </a:ext>
            </a:extLst>
          </p:cNvPr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C43B44-41D1-515D-92A8-4358E1D6020F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484FA66-5E95-0A70-9256-0BC1FEF65DE1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32FD64-2118-0C2C-6237-6B6C25C166A3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2DA65A7A-4FAC-2A8E-CD32-4E9A74CFB7A1}"/>
              </a:ext>
            </a:extLst>
          </p:cNvPr>
          <p:cNvSpPr/>
          <p:nvPr/>
        </p:nvSpPr>
        <p:spPr>
          <a:xfrm>
            <a:off x="548640" y="2699245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8F8A84-DF8E-2A30-6F58-F3A343AC5304}"/>
              </a:ext>
            </a:extLst>
          </p:cNvPr>
          <p:cNvSpPr txBox="1"/>
          <p:nvPr/>
        </p:nvSpPr>
        <p:spPr>
          <a:xfrm>
            <a:off x="1115568" y="956645"/>
            <a:ext cx="34412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Has_guest</a:t>
            </a:r>
            <a:r>
              <a:rPr lang="en-PH" dirty="0"/>
              <a:t> = </a:t>
            </a:r>
            <a:r>
              <a:rPr lang="en-PH" dirty="0" err="1"/>
              <a:t>Total_guest</a:t>
            </a:r>
            <a:r>
              <a:rPr lang="en-PH" dirty="0"/>
              <a:t> &gt; 0</a:t>
            </a:r>
          </a:p>
          <a:p>
            <a:r>
              <a:rPr lang="en-PH" dirty="0" err="1"/>
              <a:t>has_nights</a:t>
            </a:r>
            <a:r>
              <a:rPr lang="en-PH" dirty="0"/>
              <a:t> = </a:t>
            </a:r>
            <a:r>
              <a:rPr lang="en-PH" dirty="0" err="1"/>
              <a:t>total_nights</a:t>
            </a:r>
            <a:r>
              <a:rPr lang="en-PH" dirty="0"/>
              <a:t> &gt; 0</a:t>
            </a:r>
          </a:p>
          <a:p>
            <a:r>
              <a:rPr lang="en-PH" dirty="0" err="1"/>
              <a:t>valid_adr_minimum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= 0</a:t>
            </a:r>
          </a:p>
          <a:p>
            <a:r>
              <a:rPr lang="en-PH" dirty="0" err="1"/>
              <a:t>valid_adr_maximum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&lt;= 1000</a:t>
            </a:r>
          </a:p>
          <a:p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2EF7A-D8CC-90D3-7774-466654FEBF6B}"/>
              </a:ext>
            </a:extLst>
          </p:cNvPr>
          <p:cNvSpPr txBox="1"/>
          <p:nvPr/>
        </p:nvSpPr>
        <p:spPr>
          <a:xfrm>
            <a:off x="5216514" y="979836"/>
            <a:ext cx="3930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Drop/Condition not satisfied = 759 rows</a:t>
            </a:r>
          </a:p>
          <a:p>
            <a:endParaRPr lang="en-PH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E93B0C0-65F1-EBC8-A416-C290762648BF}"/>
              </a:ext>
            </a:extLst>
          </p:cNvPr>
          <p:cNvSpPr/>
          <p:nvPr/>
        </p:nvSpPr>
        <p:spPr>
          <a:xfrm>
            <a:off x="1298446" y="2575303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New Features / Additional Columns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C7D27-8557-25FA-E767-FBFF8D0E5B0D}"/>
              </a:ext>
            </a:extLst>
          </p:cNvPr>
          <p:cNvSpPr txBox="1"/>
          <p:nvPr/>
        </p:nvSpPr>
        <p:spPr>
          <a:xfrm>
            <a:off x="1095063" y="3166576"/>
            <a:ext cx="76821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total_nights</a:t>
            </a:r>
            <a:r>
              <a:rPr lang="en-PH" dirty="0"/>
              <a:t> = weekend nights + weekday nights.</a:t>
            </a:r>
          </a:p>
          <a:p>
            <a:r>
              <a:rPr lang="en-PH" dirty="0" err="1"/>
              <a:t>total_guests</a:t>
            </a:r>
            <a:r>
              <a:rPr lang="en-PH" dirty="0"/>
              <a:t> = adults + children + babies.</a:t>
            </a:r>
          </a:p>
          <a:p>
            <a:r>
              <a:rPr lang="en-PH" dirty="0" err="1"/>
              <a:t>has_kids</a:t>
            </a:r>
            <a:r>
              <a:rPr lang="en-PH" dirty="0"/>
              <a:t> = 1 if children or babies are present, otherwise 0.</a:t>
            </a:r>
          </a:p>
          <a:p>
            <a:r>
              <a:rPr lang="en-PH" dirty="0" err="1"/>
              <a:t>arrival_month</a:t>
            </a:r>
            <a:r>
              <a:rPr lang="en-PH" dirty="0"/>
              <a:t> month name converted to a number from 1 to 12.</a:t>
            </a:r>
          </a:p>
          <a:p>
            <a:r>
              <a:rPr lang="en-PH" dirty="0" err="1"/>
              <a:t>arrival_weekday</a:t>
            </a:r>
            <a:r>
              <a:rPr lang="en-PH" dirty="0"/>
              <a:t> = day of week, where Monday = 0 and Sunday = 6.</a:t>
            </a:r>
          </a:p>
          <a:p>
            <a:r>
              <a:rPr lang="en-PH" dirty="0" err="1"/>
              <a:t>adr_per_guest</a:t>
            </a:r>
            <a:r>
              <a:rPr lang="en-PH" dirty="0"/>
              <a:t> = average daily rate divided by total guests.</a:t>
            </a:r>
          </a:p>
          <a:p>
            <a:r>
              <a:rPr lang="en-PH" dirty="0" err="1"/>
              <a:t>has_prev_cancel</a:t>
            </a:r>
            <a:r>
              <a:rPr lang="en-PH" dirty="0"/>
              <a:t> = 1 if the customer has any previous cancellations, otherwise 0.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394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21F3F-1028-11D8-F5E0-41FC67B7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E60644D-E536-AA4E-7147-503CC93DF0AD}"/>
              </a:ext>
            </a:extLst>
          </p:cNvPr>
          <p:cNvSpPr/>
          <p:nvPr/>
        </p:nvSpPr>
        <p:spPr>
          <a:xfrm>
            <a:off x="1298447" y="411480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Filter Extreme Records / Record that is impossible</a:t>
            </a:r>
            <a:endParaRPr lang="en-US" sz="2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04CC8E2-E5E1-3E34-DA01-181CD6AC7C3C}"/>
              </a:ext>
            </a:extLst>
          </p:cNvPr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BB26610-45DE-5DF9-33FF-815F6CD0E43E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0D67A18-91D8-8AC9-A79B-70AA9A8DE9A2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396C10C-3DAA-B00D-52F1-3E667C73CDB5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66866DAB-DDC0-4B48-2E69-169BB369CDC2}"/>
              </a:ext>
            </a:extLst>
          </p:cNvPr>
          <p:cNvSpPr/>
          <p:nvPr/>
        </p:nvSpPr>
        <p:spPr>
          <a:xfrm>
            <a:off x="548640" y="55838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DEE81484-44EA-A6D8-8804-4F630737C4E1}"/>
              </a:ext>
            </a:extLst>
          </p:cNvPr>
          <p:cNvSpPr/>
          <p:nvPr/>
        </p:nvSpPr>
        <p:spPr>
          <a:xfrm>
            <a:off x="548640" y="269567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D31357-F015-F07F-0DF1-D5683618D964}"/>
              </a:ext>
            </a:extLst>
          </p:cNvPr>
          <p:cNvSpPr txBox="1"/>
          <p:nvPr/>
        </p:nvSpPr>
        <p:spPr>
          <a:xfrm>
            <a:off x="1115568" y="956645"/>
            <a:ext cx="34412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Has_guest</a:t>
            </a:r>
            <a:r>
              <a:rPr lang="en-PH" dirty="0"/>
              <a:t> = </a:t>
            </a:r>
            <a:r>
              <a:rPr lang="en-PH" dirty="0" err="1"/>
              <a:t>Total_guest</a:t>
            </a:r>
            <a:r>
              <a:rPr lang="en-PH" dirty="0"/>
              <a:t> &gt; 0</a:t>
            </a:r>
          </a:p>
          <a:p>
            <a:r>
              <a:rPr lang="en-PH" dirty="0" err="1"/>
              <a:t>has_nights</a:t>
            </a:r>
            <a:r>
              <a:rPr lang="en-PH" dirty="0"/>
              <a:t> = </a:t>
            </a:r>
            <a:r>
              <a:rPr lang="en-PH" dirty="0" err="1"/>
              <a:t>total_nights</a:t>
            </a:r>
            <a:r>
              <a:rPr lang="en-PH" dirty="0"/>
              <a:t> &gt; 0</a:t>
            </a:r>
          </a:p>
          <a:p>
            <a:r>
              <a:rPr lang="en-PH" dirty="0" err="1"/>
              <a:t>valid_adr_minimum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= 0</a:t>
            </a:r>
          </a:p>
          <a:p>
            <a:r>
              <a:rPr lang="en-PH" dirty="0" err="1"/>
              <a:t>valid_adr_maximum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&lt;= 1000</a:t>
            </a:r>
          </a:p>
          <a:p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5EF18-777A-1A4D-BE8A-74619C5A8988}"/>
              </a:ext>
            </a:extLst>
          </p:cNvPr>
          <p:cNvSpPr txBox="1"/>
          <p:nvPr/>
        </p:nvSpPr>
        <p:spPr>
          <a:xfrm>
            <a:off x="5216514" y="979836"/>
            <a:ext cx="3930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Drop/Condition not satisfied = 759 rows</a:t>
            </a:r>
          </a:p>
          <a:p>
            <a:endParaRPr lang="en-PH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7138BEF-4A38-7FD9-1A6A-95185F25CA3D}"/>
              </a:ext>
            </a:extLst>
          </p:cNvPr>
          <p:cNvSpPr/>
          <p:nvPr/>
        </p:nvSpPr>
        <p:spPr>
          <a:xfrm>
            <a:off x="1298446" y="2575303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Final Check and Save Data Set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EE7F3-6C87-656B-4AA1-7DE4D9BDDB42}"/>
              </a:ext>
            </a:extLst>
          </p:cNvPr>
          <p:cNvSpPr txBox="1"/>
          <p:nvPr/>
        </p:nvSpPr>
        <p:spPr>
          <a:xfrm>
            <a:off x="1298447" y="3329388"/>
            <a:ext cx="43666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Final dataset shape: (86637, 34</a:t>
            </a:r>
            <a:r>
              <a:rPr lang="en-P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783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71656-B41F-2309-2F1A-E5BD21DB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7D7613-51DF-F22D-D164-F45BCB1470E0}"/>
              </a:ext>
            </a:extLst>
          </p:cNvPr>
          <p:cNvSpPr/>
          <p:nvPr/>
        </p:nvSpPr>
        <p:spPr>
          <a:xfrm>
            <a:off x="604058" y="1561406"/>
            <a:ext cx="10881360" cy="149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Machine learning python (Classification)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8198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8EABD-A128-9833-36EB-8B2602A2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2E3407-A0FA-FB2C-6605-5BB1AC47CCA7}"/>
              </a:ext>
            </a:extLst>
          </p:cNvPr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2D2FDA-98B0-0765-1BE8-2E0E59894FFF}"/>
              </a:ext>
            </a:extLst>
          </p:cNvPr>
          <p:cNvSpPr/>
          <p:nvPr/>
        </p:nvSpPr>
        <p:spPr>
          <a:xfrm>
            <a:off x="1298448" y="411480"/>
            <a:ext cx="10040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Check Data Set / No missing Values / Check Target variables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761E112-FF49-B6B9-5FEC-8E950E4E5507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201691-C575-203B-EED0-1EF988F4AF6F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0EE4C24-7E32-B4A0-36B2-5857E69B9F2C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02BD2-FE2B-C26B-0C2C-1D1AE5681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143000"/>
            <a:ext cx="3081528" cy="5012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E4C34-EC39-C06A-D564-F515012F8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950" y="1171759"/>
            <a:ext cx="4522768" cy="181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35CB46-6627-6A99-F2A0-E7750A956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950" y="3649379"/>
            <a:ext cx="4741014" cy="157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3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2ED3C-0464-8481-94A3-7470C4AF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268BDAA-73F6-546A-E89D-40991D21AC46}"/>
              </a:ext>
            </a:extLst>
          </p:cNvPr>
          <p:cNvSpPr/>
          <p:nvPr/>
        </p:nvSpPr>
        <p:spPr>
          <a:xfrm>
            <a:off x="1298448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Pre-processing / Split / Data Conversion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474EFF-CA0E-353B-95D7-D810D520B76C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3AACE8-85CF-E834-364F-60B3B6917E0B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04A5F2A-88E3-7C01-3AF4-74A45D39C319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78F6CE3E-8569-1284-E3BD-973D5B0B8FC6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F07FF-FDC3-0D3E-204C-4365EC789614}"/>
              </a:ext>
            </a:extLst>
          </p:cNvPr>
          <p:cNvSpPr txBox="1"/>
          <p:nvPr/>
        </p:nvSpPr>
        <p:spPr>
          <a:xfrm>
            <a:off x="1298448" y="1042305"/>
            <a:ext cx="73169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PH" sz="2200" dirty="0"/>
              <a:t>Separate the target from the features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Remove columns that can reveal the final booking outcome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Check the results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Training 80/20</a:t>
            </a:r>
          </a:p>
          <a:p>
            <a:pPr marL="342900" indent="-342900">
              <a:buFontTx/>
              <a:buChar char="-"/>
            </a:pPr>
            <a:endParaRPr lang="en-PH" sz="2200" dirty="0"/>
          </a:p>
          <a:p>
            <a:pPr marL="342900" indent="-342900">
              <a:buFontTx/>
              <a:buChar char="-"/>
            </a:pPr>
            <a:endParaRPr lang="en-PH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9CCD5B-D65D-03A5-0174-D1C279889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34" y="2636161"/>
            <a:ext cx="6923273" cy="21862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204E43-8AF8-579C-305B-AA5136754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792" y="2636161"/>
            <a:ext cx="4201535" cy="12838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6E8927-941F-D3B7-6DB4-9B714794B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9" y="5003373"/>
            <a:ext cx="6982309" cy="113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9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B9063-FC40-34F0-D1FD-DD6797A0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AEAA238-53CC-ED1E-20AC-1BD55F405F66}"/>
              </a:ext>
            </a:extLst>
          </p:cNvPr>
          <p:cNvSpPr/>
          <p:nvPr/>
        </p:nvSpPr>
        <p:spPr>
          <a:xfrm>
            <a:off x="1298448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Classification Model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A3E597-CEC6-0D4B-5158-80B5DB7E9764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3C73F30-5029-655C-5F19-26869286D34A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B10CFC-731E-4003-32D1-4D72504EEE23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95E9A706-F0D4-BAD0-B138-8C9687CFAA61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0AAD2-32C3-2666-ED99-3B0AEE7962F1}"/>
              </a:ext>
            </a:extLst>
          </p:cNvPr>
          <p:cNvSpPr txBox="1"/>
          <p:nvPr/>
        </p:nvSpPr>
        <p:spPr>
          <a:xfrm>
            <a:off x="1095063" y="1387679"/>
            <a:ext cx="46606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/>
              <a:t>-Logistic Regression</a:t>
            </a:r>
          </a:p>
          <a:p>
            <a:r>
              <a:rPr lang="en-PH" sz="2200" dirty="0"/>
              <a:t>-Decision Tree</a:t>
            </a:r>
          </a:p>
          <a:p>
            <a:r>
              <a:rPr lang="en-PH" sz="2200" dirty="0"/>
              <a:t>-Random Forest</a:t>
            </a:r>
            <a:br>
              <a:rPr lang="en-PH" sz="2200" dirty="0"/>
            </a:br>
            <a:r>
              <a:rPr lang="en-PH" sz="2200" dirty="0"/>
              <a:t>-Extra Trees</a:t>
            </a:r>
          </a:p>
          <a:p>
            <a:r>
              <a:rPr lang="en-PH" sz="2200" dirty="0"/>
              <a:t>-SGD Classifier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220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491B3-5C04-9B5F-8C1F-AD60D000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8C552D9-C2EF-42D0-9DFC-0A87FDD71E60}"/>
              </a:ext>
            </a:extLst>
          </p:cNvPr>
          <p:cNvSpPr/>
          <p:nvPr/>
        </p:nvSpPr>
        <p:spPr>
          <a:xfrm>
            <a:off x="1383515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Accuracy comparison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D605E73-EDCA-B697-6CCD-537563CAA18B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2488FD-5E50-8471-1425-AD0C54433B44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753BA0E-C072-CE84-1581-0D97BBF37B35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D30D881-EFAE-DC36-BDD1-B942DA686AAE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FBC28-EA4F-09DD-01C0-B97689AA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9" y="1458625"/>
            <a:ext cx="4627196" cy="2941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A6F798-6E8F-FB50-1788-220615CEF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82" y="1458625"/>
            <a:ext cx="7166021" cy="35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2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0B663-FDAF-E5A7-F55D-4032DFD9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F34B8E-0BE0-223E-DB1D-7942B82D931D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Confusion Matrix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6FC6BA9-B551-406B-660A-CD58197B2C3D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657DBC5-67F6-E337-EA6B-07E6191CA0C9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A3969E5-35A9-756F-D19B-71F08C3BCCBB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F7253DFF-C1E2-E60B-881D-88AC9836D52D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F7491-3572-65B0-ACD0-9E76C6156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90" y="967513"/>
            <a:ext cx="9873766" cy="560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62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5F60D-765C-EE47-4FD3-AF8B7E30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4B8B12D-C02E-8334-5A82-0968656F5178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Evaluate precision, recall, and F1-score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0150D0F-FF00-609C-15BD-A0A1A9A7BA85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81EC2A7-FEEE-7110-FBB9-0BA53B8ECB7F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3E38D1-8055-7274-8031-A91369184B9B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B93CDB94-41F4-6C0F-6E5D-FEB706B0F0D1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EBFF6-D87D-867B-9279-4BEBFD20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48" y="1415569"/>
            <a:ext cx="10630652" cy="402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1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75D3B-887B-31B1-9A38-5DA185AF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E3899B1-E5EB-F03A-47D9-41FD01990F33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View the detailed classification report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EF06ACC-24BC-ECEE-5890-349F296A143D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5771F3C-0641-7FFD-A0E8-EA376665AFBB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1F278B5-C662-FD62-FE7F-09F76431C01A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0FEF218-4201-4629-8274-A338D018EC07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F5E92-A5D5-65A0-7111-62AE7C43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16" y="1473507"/>
            <a:ext cx="8513306" cy="391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3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FFF81-1056-C450-09F7-117738669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3854E53-515F-4140-D531-D9A03E95E76F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Display the confusion matrix counts for the selected model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E0C6D2-5217-50EE-9652-D20ABDCBA101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B88CDF3-C821-309D-B375-1FDCFFA6B4E0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CDF6401-74AE-23C4-1E88-A8D649619968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CDDED317-25E3-1664-6D77-B97B4FEFDD46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DB823-2677-FA2D-B996-28490785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09" y="1759527"/>
            <a:ext cx="8046812" cy="24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29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37C96-D9CE-0525-55E0-2D5D3C10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1AE6223-F2F6-BF55-3214-E9CF59535531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Conclusion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5182F3-E18B-125E-C327-CBCE93688FBA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26876F-E3A3-2F5F-2355-44425CDFFAEA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2F86A7C-0BFF-2A41-4C31-93F9D37CE274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B8C9F2E5-9FE8-D966-379D-28D39D1951B9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A6ECC-D1D0-3258-D36D-8AF666253FA7}"/>
              </a:ext>
            </a:extLst>
          </p:cNvPr>
          <p:cNvSpPr txBox="1"/>
          <p:nvPr/>
        </p:nvSpPr>
        <p:spPr>
          <a:xfrm>
            <a:off x="548640" y="1085488"/>
            <a:ext cx="579674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PH" sz="2200" dirty="0"/>
              <a:t>BEST PERFORMING CLASSIFICATION MODEL</a:t>
            </a:r>
          </a:p>
          <a:p>
            <a:r>
              <a:rPr lang="en-PH" sz="2200" dirty="0"/>
              <a:t>The model with the highest F1-score is Decision Tree. </a:t>
            </a:r>
          </a:p>
          <a:p>
            <a:r>
              <a:rPr lang="en-PH" sz="2200" dirty="0"/>
              <a:t>Accuracy: 0.822 </a:t>
            </a:r>
          </a:p>
          <a:p>
            <a:r>
              <a:rPr lang="en-PH" sz="2200" dirty="0"/>
              <a:t>Precision: 0.732 </a:t>
            </a:r>
          </a:p>
          <a:p>
            <a:r>
              <a:rPr lang="en-PH" sz="2200" dirty="0"/>
              <a:t>Recall: 0.563 </a:t>
            </a:r>
          </a:p>
          <a:p>
            <a:r>
              <a:rPr lang="en-PH" sz="2200" dirty="0"/>
              <a:t>F1-score: 0.636</a:t>
            </a:r>
            <a:br>
              <a:rPr lang="en-PH" dirty="0"/>
            </a:br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BB929-DBB6-BAB6-7B6E-F1861552B39F}"/>
              </a:ext>
            </a:extLst>
          </p:cNvPr>
          <p:cNvSpPr txBox="1"/>
          <p:nvPr/>
        </p:nvSpPr>
        <p:spPr>
          <a:xfrm>
            <a:off x="429492" y="3640033"/>
            <a:ext cx="601837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200" dirty="0"/>
              <a:t>2. CANCELED BOOKINGS THAT THE MODEL MISSED</a:t>
            </a:r>
          </a:p>
          <a:p>
            <a:r>
              <a:rPr lang="en-PH" sz="2200" dirty="0"/>
              <a:t>Correctly predicted non-canceled bookings: 11541 </a:t>
            </a:r>
          </a:p>
          <a:p>
            <a:r>
              <a:rPr lang="en-PH" sz="2200" dirty="0"/>
              <a:t>Non-canceled bookings incorrectly flagged: 990 </a:t>
            </a:r>
          </a:p>
          <a:p>
            <a:r>
              <a:rPr lang="en-PH" sz="2200" dirty="0"/>
              <a:t>Canceled bookings missed by the model: 2098 </a:t>
            </a:r>
          </a:p>
          <a:p>
            <a:r>
              <a:rPr lang="en-PH" sz="2200" dirty="0"/>
              <a:t>Correctly predicted canceled bookings: 2699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1646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124</TotalTime>
  <Words>1044</Words>
  <Application>Microsoft Office PowerPoint</Application>
  <PresentationFormat>Widescreen</PresentationFormat>
  <Paragraphs>178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 sismundo</cp:lastModifiedBy>
  <cp:revision>32</cp:revision>
  <dcterms:created xsi:type="dcterms:W3CDTF">2026-09-09T10:54:53Z</dcterms:created>
  <dcterms:modified xsi:type="dcterms:W3CDTF">2026-10-27T12:21:23Z</dcterms:modified>
</cp:coreProperties>
</file>